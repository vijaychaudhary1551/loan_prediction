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embeddedFontLst>
    <p:embeddedFont>
      <p:font typeface="Lato"/>
      <p:regular r:id="rId20"/>
      <p:bold r:id="rId21"/>
      <p:italic r:id="rId22"/>
      <p:boldItalic r:id="rId23"/>
    </p:embeddedFont>
    <p:embeddedFont>
      <p:font typeface="Inter"/>
      <p:regular r:id="rId24"/>
      <p:bold r:id="rId25"/>
    </p:embeddedFont>
    <p:embeddedFont>
      <p:font typeface="Open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0" roundtripDataSignature="AMtx7mg3zhrEzVY654JxpeYriAtLqxO1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22" Type="http://schemas.openxmlformats.org/officeDocument/2006/relationships/font" Target="fonts/Lato-italic.fntdata"/><Relationship Id="rId21" Type="http://schemas.openxmlformats.org/officeDocument/2006/relationships/font" Target="fonts/Lato-bold.fntdata"/><Relationship Id="rId24" Type="http://schemas.openxmlformats.org/officeDocument/2006/relationships/font" Target="fonts/Inter-regular.fntdata"/><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penSans-regular.fntdata"/><Relationship Id="rId25" Type="http://schemas.openxmlformats.org/officeDocument/2006/relationships/font" Target="fonts/Inter-bold.fntdata"/><Relationship Id="rId28" Type="http://schemas.openxmlformats.org/officeDocument/2006/relationships/font" Target="fonts/OpenSans-italic.fntdata"/><Relationship Id="rId27" Type="http://schemas.openxmlformats.org/officeDocument/2006/relationships/font" Target="fonts/OpenSans-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OpenSans-boldItalic.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17"/>
          <p:cNvGrpSpPr/>
          <p:nvPr/>
        </p:nvGrpSpPr>
        <p:grpSpPr>
          <a:xfrm>
            <a:off x="0" y="-8467"/>
            <a:ext cx="12192000" cy="6866467"/>
            <a:chOff x="0" y="-8467"/>
            <a:chExt cx="12192000" cy="6866467"/>
          </a:xfrm>
        </p:grpSpPr>
        <p:cxnSp>
          <p:nvCxnSpPr>
            <p:cNvPr id="24" name="Google Shape;24;p17"/>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25" name="Google Shape;25;p17"/>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26" name="Google Shape;26;p17"/>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27" name="Google Shape;27;p17"/>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17"/>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7"/>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30" name="Google Shape;30;p17"/>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31" name="Google Shape;31;p17"/>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2" name="Google Shape;32;p17"/>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7"/>
            <p:cNvSpPr/>
            <p:nvPr/>
          </p:nvSpPr>
          <p:spPr>
            <a:xfrm rot="10800000">
              <a:off x="0" y="0"/>
              <a:ext cx="842596" cy="5666154"/>
            </a:xfrm>
            <a:prstGeom prst="triangle">
              <a:avLst>
                <a:gd fmla="val 10000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17"/>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6" name="Google Shape;36;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1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2" name="Google Shape;42;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8" name="Google Shape;48;p19"/>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9" name="Google Shape;49;p19"/>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50" name="Google Shape;50;p19"/>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1" name="Google Shape;51;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p20"/>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7" name="Google Shape;57;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1"/>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21"/>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2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24"/>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9" name="Google Shape;79;p24"/>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0" name="Google Shape;80;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25"/>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5"/>
          <p:cNvSpPr/>
          <p:nvPr>
            <p:ph idx="2" type="pic"/>
          </p:nvPr>
        </p:nvSpPr>
        <p:spPr>
          <a:xfrm>
            <a:off x="677334" y="609600"/>
            <a:ext cx="8596668" cy="3845718"/>
          </a:xfrm>
          <a:prstGeom prst="rect">
            <a:avLst/>
          </a:prstGeom>
          <a:noFill/>
          <a:ln>
            <a:noFill/>
          </a:ln>
        </p:spPr>
      </p:sp>
      <p:sp>
        <p:nvSpPr>
          <p:cNvPr id="86" name="Google Shape;86;p25"/>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7" name="Google Shape;87;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0" name="Shape 90"/>
        <p:cNvGrpSpPr/>
        <p:nvPr/>
      </p:nvGrpSpPr>
      <p:grpSpPr>
        <a:xfrm>
          <a:off x="0" y="0"/>
          <a:ext cx="0" cy="0"/>
          <a:chOff x="0" y="0"/>
          <a:chExt cx="0" cy="0"/>
        </a:xfrm>
      </p:grpSpPr>
      <p:sp>
        <p:nvSpPr>
          <p:cNvPr id="91" name="Google Shape;91;p26"/>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6"/>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3" name="Google Shape;93;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6" name="Shape 96"/>
        <p:cNvGrpSpPr/>
        <p:nvPr/>
      </p:nvGrpSpPr>
      <p:grpSpPr>
        <a:xfrm>
          <a:off x="0" y="0"/>
          <a:ext cx="0" cy="0"/>
          <a:chOff x="0" y="0"/>
          <a:chExt cx="0" cy="0"/>
        </a:xfrm>
      </p:grpSpPr>
      <p:sp>
        <p:nvSpPr>
          <p:cNvPr id="97" name="Google Shape;97;p27"/>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7"/>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9" name="Google Shape;99;p27"/>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0" name="Google Shape;100;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103" name="Google Shape;103;p27"/>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IN" sz="8000" u="none" cap="none" strike="noStrike">
                <a:solidFill>
                  <a:srgbClr val="BFE471"/>
                </a:solidFill>
                <a:latin typeface="Arial"/>
                <a:ea typeface="Arial"/>
                <a:cs typeface="Arial"/>
                <a:sym typeface="Arial"/>
              </a:rPr>
              <a:t>“</a:t>
            </a:r>
            <a:endParaRPr/>
          </a:p>
        </p:txBody>
      </p:sp>
      <p:sp>
        <p:nvSpPr>
          <p:cNvPr id="104" name="Google Shape;104;p27"/>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IN" sz="8000" u="none" cap="none" strike="noStrike">
                <a:solidFill>
                  <a:srgbClr val="BFE471"/>
                </a:solidFill>
                <a:latin typeface="Arial"/>
                <a:ea typeface="Arial"/>
                <a:cs typeface="Arial"/>
                <a:sym typeface="Arial"/>
              </a:rPr>
              <a:t>”</a:t>
            </a:r>
            <a:endParaRPr b="0" i="0" sz="1800" u="none" cap="none" strike="noStrike">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5" name="Shape 105"/>
        <p:cNvGrpSpPr/>
        <p:nvPr/>
      </p:nvGrpSpPr>
      <p:grpSpPr>
        <a:xfrm>
          <a:off x="0" y="0"/>
          <a:ext cx="0" cy="0"/>
          <a:chOff x="0" y="0"/>
          <a:chExt cx="0" cy="0"/>
        </a:xfrm>
      </p:grpSpPr>
      <p:sp>
        <p:nvSpPr>
          <p:cNvPr id="106" name="Google Shape;106;p28"/>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28"/>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8" name="Google Shape;108;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1" name="Shape 111"/>
        <p:cNvGrpSpPr/>
        <p:nvPr/>
      </p:nvGrpSpPr>
      <p:grpSpPr>
        <a:xfrm>
          <a:off x="0" y="0"/>
          <a:ext cx="0" cy="0"/>
          <a:chOff x="0" y="0"/>
          <a:chExt cx="0" cy="0"/>
        </a:xfrm>
      </p:grpSpPr>
      <p:sp>
        <p:nvSpPr>
          <p:cNvPr id="112" name="Google Shape;112;p29"/>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9"/>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4" name="Google Shape;114;p29"/>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5" name="Google Shape;115;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118" name="Google Shape;118;p29"/>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IN" sz="8000" u="none" cap="none" strike="noStrike">
                <a:solidFill>
                  <a:srgbClr val="BFE471"/>
                </a:solidFill>
                <a:latin typeface="Arial"/>
                <a:ea typeface="Arial"/>
                <a:cs typeface="Arial"/>
                <a:sym typeface="Arial"/>
              </a:rPr>
              <a:t>“</a:t>
            </a:r>
            <a:endParaRPr/>
          </a:p>
        </p:txBody>
      </p:sp>
      <p:sp>
        <p:nvSpPr>
          <p:cNvPr id="119" name="Google Shape;119;p29"/>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IN" sz="8000" u="none" cap="none" strike="noStrike">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0" name="Shape 120"/>
        <p:cNvGrpSpPr/>
        <p:nvPr/>
      </p:nvGrpSpPr>
      <p:grpSpPr>
        <a:xfrm>
          <a:off x="0" y="0"/>
          <a:ext cx="0" cy="0"/>
          <a:chOff x="0" y="0"/>
          <a:chExt cx="0" cy="0"/>
        </a:xfrm>
      </p:grpSpPr>
      <p:sp>
        <p:nvSpPr>
          <p:cNvPr id="121" name="Google Shape;121;p30"/>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0"/>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3" name="Google Shape;123;p30"/>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4" name="Google Shape;124;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3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1"/>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0" name="Google Shape;130;p3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3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3" name="Shape 133"/>
        <p:cNvGrpSpPr/>
        <p:nvPr/>
      </p:nvGrpSpPr>
      <p:grpSpPr>
        <a:xfrm>
          <a:off x="0" y="0"/>
          <a:ext cx="0" cy="0"/>
          <a:chOff x="0" y="0"/>
          <a:chExt cx="0" cy="0"/>
        </a:xfrm>
      </p:grpSpPr>
      <p:sp>
        <p:nvSpPr>
          <p:cNvPr id="134" name="Google Shape;134;p32"/>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2"/>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6" name="Google Shape;136;p3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6"/>
          <p:cNvGrpSpPr/>
          <p:nvPr/>
        </p:nvGrpSpPr>
        <p:grpSpPr>
          <a:xfrm>
            <a:off x="0" y="-8467"/>
            <a:ext cx="12192000" cy="6866467"/>
            <a:chOff x="0" y="-8467"/>
            <a:chExt cx="12192000" cy="6866467"/>
          </a:xfrm>
        </p:grpSpPr>
        <p:cxnSp>
          <p:nvCxnSpPr>
            <p:cNvPr id="7" name="Google Shape;7;p16"/>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8" name="Google Shape;8;p16"/>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9" name="Google Shape;9;p16"/>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0" name="Google Shape;10;p16"/>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16"/>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6"/>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13" name="Google Shape;13;p16"/>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14" name="Google Shape;14;p16"/>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5" name="Google Shape;15;p16"/>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6"/>
            <p:cNvSpPr/>
            <p:nvPr/>
          </p:nvSpPr>
          <p:spPr>
            <a:xfrm>
              <a:off x="0" y="4013200"/>
              <a:ext cx="448733" cy="2844800"/>
            </a:xfrm>
            <a:prstGeom prst="triangle">
              <a:avLst>
                <a:gd fmla="val 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1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1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19" name="Google Shape;19;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0" name="Google Shape;20;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1" name="Google Shape;21;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chemeClr val="accent1"/>
              </a:buClr>
              <a:buSzPts val="4000"/>
              <a:buFont typeface="Trebuchet MS"/>
              <a:buNone/>
            </a:pPr>
            <a:r>
              <a:rPr lang="en-IN" sz="4000"/>
              <a:t>Loan Prediction System Using Machine Learning</a:t>
            </a:r>
            <a:endParaRPr sz="4000"/>
          </a:p>
        </p:txBody>
      </p:sp>
      <p:sp>
        <p:nvSpPr>
          <p:cNvPr id="144" name="Google Shape;144;p1"/>
          <p:cNvSpPr txBox="1"/>
          <p:nvPr>
            <p:ph idx="1" type="subTitle"/>
          </p:nvPr>
        </p:nvSpPr>
        <p:spPr>
          <a:xfrm>
            <a:off x="1524000" y="3602038"/>
            <a:ext cx="9144000" cy="2733448"/>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440"/>
              <a:buNone/>
            </a:pPr>
            <a:r>
              <a:rPr lang="en-IN"/>
              <a:t>Group – 07</a:t>
            </a:r>
            <a:endParaRPr/>
          </a:p>
          <a:p>
            <a:pPr indent="0" lvl="0" marL="0" rtl="0" algn="r">
              <a:spcBef>
                <a:spcPts val="1000"/>
              </a:spcBef>
              <a:spcAft>
                <a:spcPts val="0"/>
              </a:spcAft>
              <a:buSzPts val="1440"/>
              <a:buNone/>
            </a:pPr>
            <a:r>
              <a:rPr lang="en-IN"/>
              <a:t>By - Shreyas Kalamkar, Vijay Chaudhary</a:t>
            </a:r>
            <a:endParaRPr/>
          </a:p>
          <a:p>
            <a:pPr indent="0" lvl="0" marL="0" rtl="0" algn="r">
              <a:spcBef>
                <a:spcPts val="1000"/>
              </a:spcBef>
              <a:spcAft>
                <a:spcPts val="0"/>
              </a:spcAft>
              <a:buSzPts val="1440"/>
              <a:buNone/>
            </a:pPr>
            <a:r>
              <a:t/>
            </a:r>
            <a:endParaRPr/>
          </a:p>
          <a:p>
            <a:pPr indent="0" lvl="0" marL="0" rtl="0" algn="r">
              <a:spcBef>
                <a:spcPts val="1000"/>
              </a:spcBef>
              <a:spcAft>
                <a:spcPts val="0"/>
              </a:spcAft>
              <a:buSzPts val="1440"/>
              <a:buNone/>
            </a:pPr>
            <a:r>
              <a:t/>
            </a:r>
            <a:endParaRPr/>
          </a:p>
          <a:p>
            <a:pPr indent="0" lvl="0" marL="0" rtl="0" algn="l">
              <a:spcBef>
                <a:spcPts val="1000"/>
              </a:spcBef>
              <a:spcAft>
                <a:spcPts val="0"/>
              </a:spcAft>
              <a:buSzPts val="1440"/>
              <a:buNone/>
            </a:pPr>
            <a:r>
              <a:rPr lang="en-IN"/>
              <a:t>Center Coordinator                                                         Project Guide                 </a:t>
            </a:r>
            <a:endParaRPr/>
          </a:p>
          <a:p>
            <a:pPr indent="0" lvl="0" marL="0" rtl="0" algn="l">
              <a:spcBef>
                <a:spcPts val="1000"/>
              </a:spcBef>
              <a:spcAft>
                <a:spcPts val="0"/>
              </a:spcAft>
              <a:buSzPts val="1440"/>
              <a:buNone/>
            </a:pPr>
            <a:r>
              <a:rPr lang="en-IN"/>
              <a:t>Mr. Rohit Puranik                                                             Dr Shantanu Pathak</a:t>
            </a:r>
            <a:endParaRPr/>
          </a:p>
        </p:txBody>
      </p:sp>
      <p:pic>
        <p:nvPicPr>
          <p:cNvPr id="145" name="Google Shape;145;p1"/>
          <p:cNvPicPr preferRelativeResize="0"/>
          <p:nvPr/>
        </p:nvPicPr>
        <p:blipFill rotWithShape="1">
          <a:blip r:embed="rId3">
            <a:alphaModFix/>
          </a:blip>
          <a:srcRect b="0" l="0" r="0" t="0"/>
          <a:stretch/>
        </p:blipFill>
        <p:spPr>
          <a:xfrm>
            <a:off x="0" y="31135"/>
            <a:ext cx="1905000" cy="1905000"/>
          </a:xfrm>
          <a:prstGeom prst="rect">
            <a:avLst/>
          </a:prstGeom>
          <a:noFill/>
          <a:ln>
            <a:noFill/>
          </a:ln>
        </p:spPr>
      </p:pic>
      <p:pic>
        <p:nvPicPr>
          <p:cNvPr id="146" name="Google Shape;146;p1"/>
          <p:cNvPicPr preferRelativeResize="0"/>
          <p:nvPr/>
        </p:nvPicPr>
        <p:blipFill rotWithShape="1">
          <a:blip r:embed="rId4">
            <a:alphaModFix/>
          </a:blip>
          <a:srcRect b="0" l="0" r="0" t="0"/>
          <a:stretch/>
        </p:blipFill>
        <p:spPr>
          <a:xfrm>
            <a:off x="9522473" y="12085"/>
            <a:ext cx="2533650" cy="971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IN"/>
              <a:t>Contents</a:t>
            </a:r>
            <a:endParaRPr/>
          </a:p>
        </p:txBody>
      </p:sp>
      <p:sp>
        <p:nvSpPr>
          <p:cNvPr id="152" name="Google Shape;152;p2"/>
          <p:cNvSpPr txBox="1"/>
          <p:nvPr>
            <p:ph idx="1" type="body"/>
          </p:nvPr>
        </p:nvSpPr>
        <p:spPr>
          <a:xfrm>
            <a:off x="1451579" y="1853754"/>
            <a:ext cx="9603275" cy="361259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79999"/>
              <a:buChar char="►"/>
            </a:pPr>
            <a:r>
              <a:rPr b="1" i="0" lang="en-IN">
                <a:solidFill>
                  <a:srgbClr val="222222"/>
                </a:solidFill>
                <a:latin typeface="Lato"/>
                <a:ea typeface="Lato"/>
                <a:cs typeface="Lato"/>
                <a:sym typeface="Lato"/>
              </a:rPr>
              <a:t>Understanding the problem statement</a:t>
            </a:r>
            <a:endParaRPr b="1"/>
          </a:p>
          <a:p>
            <a:pPr indent="-342900" lvl="0" marL="342900" rtl="0" algn="l">
              <a:spcBef>
                <a:spcPts val="1000"/>
              </a:spcBef>
              <a:spcAft>
                <a:spcPts val="0"/>
              </a:spcAft>
              <a:buSzPct val="79999"/>
              <a:buChar char="►"/>
            </a:pPr>
            <a:r>
              <a:rPr b="1" i="0" lang="en-IN">
                <a:solidFill>
                  <a:srgbClr val="222222"/>
                </a:solidFill>
                <a:latin typeface="Lato"/>
                <a:ea typeface="Lato"/>
                <a:cs typeface="Lato"/>
                <a:sym typeface="Lato"/>
              </a:rPr>
              <a:t>About the dataset</a:t>
            </a:r>
            <a:endParaRPr/>
          </a:p>
          <a:p>
            <a:pPr indent="-342900" lvl="0" marL="342900" rtl="0" algn="l">
              <a:spcBef>
                <a:spcPts val="1000"/>
              </a:spcBef>
              <a:spcAft>
                <a:spcPts val="0"/>
              </a:spcAft>
              <a:buSzPct val="79999"/>
              <a:buChar char="►"/>
            </a:pPr>
            <a:r>
              <a:rPr b="1" i="0" lang="en-IN">
                <a:solidFill>
                  <a:srgbClr val="222222"/>
                </a:solidFill>
                <a:latin typeface="Lato"/>
                <a:ea typeface="Lato"/>
                <a:cs typeface="Lato"/>
                <a:sym typeface="Lato"/>
              </a:rPr>
              <a:t>Load essential Python Libraries</a:t>
            </a:r>
            <a:endParaRPr/>
          </a:p>
          <a:p>
            <a:pPr indent="-342900" lvl="0" marL="342900" rtl="0" algn="l">
              <a:spcBef>
                <a:spcPts val="1000"/>
              </a:spcBef>
              <a:spcAft>
                <a:spcPts val="0"/>
              </a:spcAft>
              <a:buSzPct val="79999"/>
              <a:buChar char="►"/>
            </a:pPr>
            <a:r>
              <a:rPr b="1" i="0" lang="en-IN">
                <a:solidFill>
                  <a:srgbClr val="222222"/>
                </a:solidFill>
                <a:latin typeface="Lato"/>
                <a:ea typeface="Lato"/>
                <a:cs typeface="Lato"/>
                <a:sym typeface="Lato"/>
              </a:rPr>
              <a:t>Load Training/Test datasets</a:t>
            </a:r>
            <a:endParaRPr/>
          </a:p>
          <a:p>
            <a:pPr indent="-342900" lvl="0" marL="342900" rtl="0" algn="l">
              <a:spcBef>
                <a:spcPts val="1000"/>
              </a:spcBef>
              <a:spcAft>
                <a:spcPts val="0"/>
              </a:spcAft>
              <a:buSzPct val="79999"/>
              <a:buChar char="►"/>
            </a:pPr>
            <a:r>
              <a:rPr b="1" i="0" lang="en-IN">
                <a:solidFill>
                  <a:srgbClr val="222222"/>
                </a:solidFill>
                <a:latin typeface="Lato"/>
                <a:ea typeface="Lato"/>
                <a:cs typeface="Lato"/>
                <a:sym typeface="Lato"/>
              </a:rPr>
              <a:t>Data Preprocessing</a:t>
            </a:r>
            <a:endParaRPr b="1" i="0">
              <a:solidFill>
                <a:srgbClr val="222222"/>
              </a:solidFill>
              <a:latin typeface="Lato"/>
              <a:ea typeface="Lato"/>
              <a:cs typeface="Lato"/>
              <a:sym typeface="Lato"/>
            </a:endParaRPr>
          </a:p>
          <a:p>
            <a:pPr indent="-342900" lvl="0" marL="342900" rtl="0" algn="l">
              <a:spcBef>
                <a:spcPts val="1000"/>
              </a:spcBef>
              <a:spcAft>
                <a:spcPts val="0"/>
              </a:spcAft>
              <a:buSzPct val="79999"/>
              <a:buChar char="►"/>
            </a:pPr>
            <a:r>
              <a:rPr b="1" i="0" lang="en-IN">
                <a:solidFill>
                  <a:srgbClr val="222222"/>
                </a:solidFill>
                <a:latin typeface="Lato"/>
                <a:ea typeface="Lato"/>
                <a:cs typeface="Lato"/>
                <a:sym typeface="Lato"/>
              </a:rPr>
              <a:t>Exploratory data analysis (EDA)</a:t>
            </a:r>
            <a:endParaRPr/>
          </a:p>
          <a:p>
            <a:pPr indent="-342900" lvl="0" marL="342900" rtl="0" algn="l">
              <a:spcBef>
                <a:spcPts val="1000"/>
              </a:spcBef>
              <a:spcAft>
                <a:spcPts val="0"/>
              </a:spcAft>
              <a:buSzPct val="79999"/>
              <a:buChar char="►"/>
            </a:pPr>
            <a:r>
              <a:rPr b="1" i="0" lang="en-IN">
                <a:solidFill>
                  <a:srgbClr val="222222"/>
                </a:solidFill>
                <a:latin typeface="Lato"/>
                <a:ea typeface="Lato"/>
                <a:cs typeface="Lato"/>
                <a:sym typeface="Lato"/>
              </a:rPr>
              <a:t>Build Machine Learning Model</a:t>
            </a:r>
            <a:endParaRPr/>
          </a:p>
          <a:p>
            <a:pPr indent="-342900" lvl="0" marL="342900" rtl="0" algn="l">
              <a:spcBef>
                <a:spcPts val="1000"/>
              </a:spcBef>
              <a:spcAft>
                <a:spcPts val="0"/>
              </a:spcAft>
              <a:buSzPct val="79999"/>
              <a:buChar char="►"/>
            </a:pPr>
            <a:r>
              <a:rPr b="1" i="0" lang="en-IN">
                <a:solidFill>
                  <a:srgbClr val="222222"/>
                </a:solidFill>
                <a:latin typeface="Lato"/>
                <a:ea typeface="Lato"/>
                <a:cs typeface="Lato"/>
                <a:sym typeface="Lato"/>
              </a:rPr>
              <a:t>Making prediction on test datasets</a:t>
            </a:r>
            <a:endParaRPr/>
          </a:p>
          <a:p>
            <a:pPr indent="-342900" lvl="0" marL="342900" rtl="0" algn="l">
              <a:spcBef>
                <a:spcPts val="1000"/>
              </a:spcBef>
              <a:spcAft>
                <a:spcPts val="0"/>
              </a:spcAft>
              <a:buSzPct val="79999"/>
              <a:buChar char="►"/>
            </a:pPr>
            <a:r>
              <a:rPr b="1" lang="en-IN"/>
              <a:t>Deployment</a:t>
            </a:r>
            <a:br>
              <a:rPr lang="en-IN"/>
            </a:br>
            <a:endParaRPr/>
          </a:p>
          <a:p>
            <a:pPr indent="-258318" lvl="0" marL="342900" rtl="0" algn="l">
              <a:spcBef>
                <a:spcPts val="1000"/>
              </a:spcBef>
              <a:spcAft>
                <a:spcPts val="0"/>
              </a:spcAft>
              <a:buSzPct val="79999"/>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IN"/>
              <a:t>Problem Statement</a:t>
            </a:r>
            <a:endParaRPr/>
          </a:p>
        </p:txBody>
      </p:sp>
      <p:sp>
        <p:nvSpPr>
          <p:cNvPr id="158" name="Google Shape;158;p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lang="en-IN"/>
              <a:t>The primary goal of this project is to extract patterns from the credit card transactions data from the dataset and use the trained models to</a:t>
            </a:r>
            <a:r>
              <a:rPr lang="en-IN">
                <a:solidFill>
                  <a:srgbClr val="222222"/>
                </a:solidFill>
                <a:latin typeface="Lato"/>
                <a:ea typeface="Lato"/>
                <a:cs typeface="Lato"/>
                <a:sym typeface="Lato"/>
              </a:rPr>
              <a:t> </a:t>
            </a:r>
            <a:r>
              <a:rPr lang="en-IN"/>
              <a:t>predict eligibility of any customer based on his spending behaviour. Training of the models will be done using two different ML models and after the training is done the ML models will be compared based on their accuracy score and f1-score and the best model will be selected which will then be used to make predictions for the customer. The prediction which is given by our system will give the customer the knowledge whether he is eligible for loan or not.</a:t>
            </a:r>
            <a:endParaRPr b="0" i="0">
              <a:solidFill>
                <a:srgbClr val="222222"/>
              </a:solidFill>
              <a:latin typeface="Lato"/>
              <a:ea typeface="Lato"/>
              <a:cs typeface="Lato"/>
              <a:sym typeface="Lato"/>
            </a:endParaRPr>
          </a:p>
          <a:p>
            <a:pPr indent="-251459" lvl="0" marL="342900" rtl="0" algn="l">
              <a:spcBef>
                <a:spcPts val="1000"/>
              </a:spcBef>
              <a:spcAft>
                <a:spcPts val="0"/>
              </a:spcAft>
              <a:buSzPts val="144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b="0" i="0" lang="en-IN">
                <a:solidFill>
                  <a:srgbClr val="222222"/>
                </a:solidFill>
                <a:latin typeface="Lato"/>
                <a:ea typeface="Lato"/>
                <a:cs typeface="Lato"/>
                <a:sym typeface="Lato"/>
              </a:rPr>
              <a:t>As mentioned above this is a Binary Classification problem in which we need to predict our Target label which is “Loan Status”.</a:t>
            </a:r>
            <a:endParaRPr/>
          </a:p>
          <a:p>
            <a:pPr indent="-342900" lvl="0" marL="342900" rtl="0" algn="just">
              <a:spcBef>
                <a:spcPts val="1000"/>
              </a:spcBef>
              <a:spcAft>
                <a:spcPts val="0"/>
              </a:spcAft>
              <a:buSzPts val="1440"/>
              <a:buChar char="►"/>
            </a:pPr>
            <a:r>
              <a:rPr b="0" i="0" lang="en-IN">
                <a:solidFill>
                  <a:srgbClr val="222222"/>
                </a:solidFill>
                <a:latin typeface="Lato"/>
                <a:ea typeface="Lato"/>
                <a:cs typeface="Lato"/>
                <a:sym typeface="Lato"/>
              </a:rPr>
              <a:t>Loan status can have two values: Yes or NO.</a:t>
            </a:r>
            <a:endParaRPr/>
          </a:p>
          <a:p>
            <a:pPr indent="-342900" lvl="0" marL="342900" rtl="0" algn="just">
              <a:spcBef>
                <a:spcPts val="1000"/>
              </a:spcBef>
              <a:spcAft>
                <a:spcPts val="0"/>
              </a:spcAft>
              <a:buSzPts val="1440"/>
              <a:buChar char="►"/>
            </a:pPr>
            <a:r>
              <a:rPr b="0" i="0" lang="en-IN">
                <a:solidFill>
                  <a:srgbClr val="222222"/>
                </a:solidFill>
                <a:latin typeface="Lato"/>
                <a:ea typeface="Lato"/>
                <a:cs typeface="Lato"/>
                <a:sym typeface="Lato"/>
              </a:rPr>
              <a:t>Yes: if the loan is approved</a:t>
            </a:r>
            <a:endParaRPr/>
          </a:p>
          <a:p>
            <a:pPr indent="-342900" lvl="0" marL="342900" rtl="0" algn="just">
              <a:spcBef>
                <a:spcPts val="1000"/>
              </a:spcBef>
              <a:spcAft>
                <a:spcPts val="0"/>
              </a:spcAft>
              <a:buSzPts val="1440"/>
              <a:buChar char="►"/>
            </a:pPr>
            <a:r>
              <a:rPr b="0" i="0" lang="en-IN">
                <a:solidFill>
                  <a:srgbClr val="222222"/>
                </a:solidFill>
                <a:latin typeface="Lato"/>
                <a:ea typeface="Lato"/>
                <a:cs typeface="Lato"/>
                <a:sym typeface="Lato"/>
              </a:rPr>
              <a:t>NO: if the loan is not approved</a:t>
            </a:r>
            <a:endParaRPr/>
          </a:p>
          <a:p>
            <a:pPr indent="-342900" lvl="0" marL="342900" rtl="0" algn="just">
              <a:spcBef>
                <a:spcPts val="1000"/>
              </a:spcBef>
              <a:spcAft>
                <a:spcPts val="0"/>
              </a:spcAft>
              <a:buSzPts val="1440"/>
              <a:buChar char="►"/>
            </a:pPr>
            <a:r>
              <a:rPr b="0" i="0" lang="en-IN">
                <a:solidFill>
                  <a:srgbClr val="222222"/>
                </a:solidFill>
                <a:latin typeface="Lato"/>
                <a:ea typeface="Lato"/>
                <a:cs typeface="Lato"/>
                <a:sym typeface="Lato"/>
              </a:rPr>
              <a:t>So using the training dataset we will train our model and try to predict our target column that is “Loan Status” on the test dataset.</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IN"/>
              <a:t>About the Dataset</a:t>
            </a:r>
            <a:endParaRPr/>
          </a:p>
        </p:txBody>
      </p:sp>
      <p:sp>
        <p:nvSpPr>
          <p:cNvPr id="169" name="Google Shape;169;p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SzPct val="79999"/>
              <a:buChar char="►"/>
            </a:pPr>
            <a:r>
              <a:rPr b="1" lang="en-IN" sz="2600"/>
              <a:t>In our dataset there are around 21 unique columns in parquet and 3 columns in csv file.</a:t>
            </a:r>
            <a:endParaRPr/>
          </a:p>
          <a:p>
            <a:pPr indent="-342900" lvl="0" marL="342900" rtl="0" algn="l">
              <a:spcBef>
                <a:spcPts val="1000"/>
              </a:spcBef>
              <a:spcAft>
                <a:spcPts val="0"/>
              </a:spcAft>
              <a:buSzPct val="79999"/>
              <a:buChar char="►"/>
            </a:pPr>
            <a:r>
              <a:rPr b="1" lang="en-IN" sz="2600"/>
              <a:t>And there are around 27 cr (rows) in our data set</a:t>
            </a:r>
            <a:endParaRPr/>
          </a:p>
          <a:p>
            <a:pPr indent="-342900" lvl="0" marL="342900" rtl="0" algn="l">
              <a:spcBef>
                <a:spcPts val="1000"/>
              </a:spcBef>
              <a:spcAft>
                <a:spcPts val="0"/>
              </a:spcAft>
              <a:buSzPct val="79999"/>
              <a:buFont typeface="Trebuchet MS"/>
              <a:buAutoNum type="arabicPeriod"/>
            </a:pPr>
            <a:r>
              <a:rPr lang="en-IN"/>
              <a:t>app_id: integer (nullable = true)</a:t>
            </a:r>
            <a:endParaRPr/>
          </a:p>
          <a:p>
            <a:pPr indent="-342900" lvl="0" marL="342900" rtl="0" algn="l">
              <a:spcBef>
                <a:spcPts val="1000"/>
              </a:spcBef>
              <a:spcAft>
                <a:spcPts val="0"/>
              </a:spcAft>
              <a:buSzPct val="79999"/>
              <a:buFont typeface="Trebuchet MS"/>
              <a:buAutoNum type="arabicPeriod"/>
            </a:pPr>
            <a:r>
              <a:rPr lang="en-IN"/>
              <a:t>amnt: double (nullable = true)</a:t>
            </a:r>
            <a:endParaRPr/>
          </a:p>
          <a:p>
            <a:pPr indent="-342900" lvl="0" marL="342900" rtl="0" algn="l">
              <a:spcBef>
                <a:spcPts val="1000"/>
              </a:spcBef>
              <a:spcAft>
                <a:spcPts val="0"/>
              </a:spcAft>
              <a:buSzPct val="79999"/>
              <a:buFont typeface="Trebuchet MS"/>
              <a:buAutoNum type="arabicPeriod"/>
            </a:pPr>
            <a:r>
              <a:rPr lang="en-IN"/>
              <a:t>currency: integer (nullable = true)</a:t>
            </a:r>
            <a:endParaRPr/>
          </a:p>
          <a:p>
            <a:pPr indent="-342900" lvl="0" marL="342900" rtl="0" algn="l">
              <a:spcBef>
                <a:spcPts val="1000"/>
              </a:spcBef>
              <a:spcAft>
                <a:spcPts val="0"/>
              </a:spcAft>
              <a:buSzPct val="79999"/>
              <a:buFont typeface="Trebuchet MS"/>
              <a:buAutoNum type="arabicPeriod"/>
            </a:pPr>
            <a:r>
              <a:rPr lang="en-IN"/>
              <a:t>operation_kind: integer (nullable = true)</a:t>
            </a:r>
            <a:endParaRPr/>
          </a:p>
          <a:p>
            <a:pPr indent="-342900" lvl="0" marL="342900" rtl="0" algn="l">
              <a:spcBef>
                <a:spcPts val="1000"/>
              </a:spcBef>
              <a:spcAft>
                <a:spcPts val="0"/>
              </a:spcAft>
              <a:buSzPct val="79999"/>
              <a:buFont typeface="Trebuchet MS"/>
              <a:buAutoNum type="arabicPeriod"/>
            </a:pPr>
            <a:r>
              <a:rPr lang="en-IN"/>
              <a:t>card_type: integer (nullable = true)</a:t>
            </a:r>
            <a:endParaRPr/>
          </a:p>
          <a:p>
            <a:pPr indent="-342900" lvl="0" marL="342900" rtl="0" algn="l">
              <a:spcBef>
                <a:spcPts val="1000"/>
              </a:spcBef>
              <a:spcAft>
                <a:spcPts val="0"/>
              </a:spcAft>
              <a:buSzPct val="79999"/>
              <a:buFont typeface="Trebuchet MS"/>
              <a:buAutoNum type="arabicPeriod"/>
            </a:pPr>
            <a:r>
              <a:rPr lang="en-IN"/>
              <a:t>operation_type: integer (nullable = true)</a:t>
            </a:r>
            <a:endParaRPr/>
          </a:p>
          <a:p>
            <a:pPr indent="-342900" lvl="0" marL="342900" rtl="0" algn="l">
              <a:spcBef>
                <a:spcPts val="1000"/>
              </a:spcBef>
              <a:spcAft>
                <a:spcPts val="0"/>
              </a:spcAft>
              <a:buSzPct val="79999"/>
              <a:buFont typeface="Trebuchet MS"/>
              <a:buAutoNum type="arabicPeriod"/>
            </a:pPr>
            <a:r>
              <a:rPr lang="en-IN"/>
              <a:t>operation_type_group: integer (nullable = true)</a:t>
            </a:r>
            <a:endParaRPr/>
          </a:p>
          <a:p>
            <a:pPr indent="-342900" lvl="0" marL="342900" rtl="0" algn="l">
              <a:spcBef>
                <a:spcPts val="1000"/>
              </a:spcBef>
              <a:spcAft>
                <a:spcPts val="0"/>
              </a:spcAft>
              <a:buSzPct val="79999"/>
              <a:buFont typeface="Trebuchet MS"/>
              <a:buAutoNum type="arabicPeriod"/>
            </a:pPr>
            <a:r>
              <a:rPr lang="en-IN"/>
              <a:t>ecommerce_flag: integer (nullable = true)</a:t>
            </a:r>
            <a:endParaRPr/>
          </a:p>
          <a:p>
            <a:pPr indent="-342900" lvl="0" marL="342900" rtl="0" algn="l">
              <a:spcBef>
                <a:spcPts val="1000"/>
              </a:spcBef>
              <a:spcAft>
                <a:spcPts val="0"/>
              </a:spcAft>
              <a:buSzPct val="79999"/>
              <a:buFont typeface="Trebuchet MS"/>
              <a:buAutoNum type="arabicPeriod"/>
            </a:pPr>
            <a:r>
              <a:rPr lang="en-IN"/>
              <a:t>payment_system: integer (nullable = true)</a:t>
            </a:r>
            <a:endParaRPr/>
          </a:p>
          <a:p>
            <a:pPr indent="-342900" lvl="0" marL="342900" rtl="0" algn="l">
              <a:spcBef>
                <a:spcPts val="1000"/>
              </a:spcBef>
              <a:spcAft>
                <a:spcPts val="0"/>
              </a:spcAft>
              <a:buSzPct val="79999"/>
              <a:buFont typeface="Trebuchet MS"/>
              <a:buAutoNum type="arabicPeriod"/>
            </a:pPr>
            <a:r>
              <a:rPr lang="en-IN"/>
              <a:t>income_flag: integer (nullable = true)</a:t>
            </a:r>
            <a:endParaRPr/>
          </a:p>
          <a:p>
            <a:pPr indent="-342900" lvl="0" marL="342900" rtl="0" algn="l">
              <a:spcBef>
                <a:spcPts val="1000"/>
              </a:spcBef>
              <a:spcAft>
                <a:spcPts val="0"/>
              </a:spcAft>
              <a:buSzPct val="79999"/>
              <a:buFont typeface="Trebuchet MS"/>
              <a:buAutoNum type="arabicPeriod"/>
            </a:pPr>
            <a:r>
              <a:rPr lang="en-IN"/>
              <a:t>mcc: integer (nullable = true)</a:t>
            </a:r>
            <a:endParaRPr/>
          </a:p>
          <a:p>
            <a:pPr indent="-285750" lvl="0" marL="342900" rtl="0" algn="l">
              <a:spcBef>
                <a:spcPts val="1000"/>
              </a:spcBef>
              <a:spcAft>
                <a:spcPts val="0"/>
              </a:spcAft>
              <a:buSzPct val="79999"/>
              <a:buNone/>
            </a:pPr>
            <a:r>
              <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t/>
            </a:r>
            <a:endParaRPr/>
          </a:p>
        </p:txBody>
      </p:sp>
      <p:sp>
        <p:nvSpPr>
          <p:cNvPr id="175" name="Google Shape;175;p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SzPct val="79999"/>
              <a:buFont typeface="Trebuchet MS"/>
              <a:buAutoNum type="arabicPeriod" startAt="12"/>
            </a:pPr>
            <a:r>
              <a:rPr lang="en-IN"/>
              <a:t>country: integer (nullable = true)</a:t>
            </a:r>
            <a:endParaRPr/>
          </a:p>
          <a:p>
            <a:pPr indent="-342900" lvl="0" marL="342900" rtl="0" algn="l">
              <a:spcBef>
                <a:spcPts val="1000"/>
              </a:spcBef>
              <a:spcAft>
                <a:spcPts val="0"/>
              </a:spcAft>
              <a:buSzPct val="79999"/>
              <a:buFont typeface="Trebuchet MS"/>
              <a:buAutoNum type="arabicPeriod" startAt="12"/>
            </a:pPr>
            <a:r>
              <a:rPr lang="en-IN"/>
              <a:t>city: integer (nullable = true)</a:t>
            </a:r>
            <a:endParaRPr/>
          </a:p>
          <a:p>
            <a:pPr indent="-342900" lvl="0" marL="342900" rtl="0" algn="l">
              <a:spcBef>
                <a:spcPts val="1000"/>
              </a:spcBef>
              <a:spcAft>
                <a:spcPts val="0"/>
              </a:spcAft>
              <a:buSzPct val="79999"/>
              <a:buFont typeface="Trebuchet MS"/>
              <a:buAutoNum type="arabicPeriod" startAt="12"/>
            </a:pPr>
            <a:r>
              <a:rPr lang="en-IN"/>
              <a:t>mcc_category: integer (nullable = true)</a:t>
            </a:r>
            <a:endParaRPr/>
          </a:p>
          <a:p>
            <a:pPr indent="-342900" lvl="0" marL="342900" rtl="0" algn="l">
              <a:spcBef>
                <a:spcPts val="1000"/>
              </a:spcBef>
              <a:spcAft>
                <a:spcPts val="0"/>
              </a:spcAft>
              <a:buSzPct val="79999"/>
              <a:buFont typeface="Trebuchet MS"/>
              <a:buAutoNum type="arabicPeriod" startAt="12"/>
            </a:pPr>
            <a:r>
              <a:rPr lang="en-IN"/>
              <a:t>day_of_week: integer (nullable = true)</a:t>
            </a:r>
            <a:endParaRPr/>
          </a:p>
          <a:p>
            <a:pPr indent="-342900" lvl="0" marL="342900" rtl="0" algn="l">
              <a:spcBef>
                <a:spcPts val="1000"/>
              </a:spcBef>
              <a:spcAft>
                <a:spcPts val="0"/>
              </a:spcAft>
              <a:buSzPct val="79999"/>
              <a:buFont typeface="Trebuchet MS"/>
              <a:buAutoNum type="arabicPeriod" startAt="12"/>
            </a:pPr>
            <a:r>
              <a:rPr lang="en-IN"/>
              <a:t>hour: integer (nullable = true)</a:t>
            </a:r>
            <a:endParaRPr/>
          </a:p>
          <a:p>
            <a:pPr indent="-342900" lvl="0" marL="342900" rtl="0" algn="l">
              <a:spcBef>
                <a:spcPts val="1000"/>
              </a:spcBef>
              <a:spcAft>
                <a:spcPts val="0"/>
              </a:spcAft>
              <a:buSzPct val="79999"/>
              <a:buFont typeface="Trebuchet MS"/>
              <a:buAutoNum type="arabicPeriod" startAt="12"/>
            </a:pPr>
            <a:r>
              <a:rPr lang="en-IN"/>
              <a:t>days_before: integer (nullable = true)</a:t>
            </a:r>
            <a:endParaRPr/>
          </a:p>
          <a:p>
            <a:pPr indent="-342900" lvl="0" marL="342900" rtl="0" algn="l">
              <a:spcBef>
                <a:spcPts val="1000"/>
              </a:spcBef>
              <a:spcAft>
                <a:spcPts val="0"/>
              </a:spcAft>
              <a:buSzPct val="79999"/>
              <a:buFont typeface="Trebuchet MS"/>
              <a:buAutoNum type="arabicPeriod" startAt="12"/>
            </a:pPr>
            <a:r>
              <a:rPr lang="en-IN"/>
              <a:t>weekofyear: integer (nullable = true)</a:t>
            </a:r>
            <a:endParaRPr/>
          </a:p>
          <a:p>
            <a:pPr indent="-342900" lvl="0" marL="342900" rtl="0" algn="l">
              <a:spcBef>
                <a:spcPts val="1000"/>
              </a:spcBef>
              <a:spcAft>
                <a:spcPts val="0"/>
              </a:spcAft>
              <a:buSzPct val="79999"/>
              <a:buFont typeface="Trebuchet MS"/>
              <a:buAutoNum type="arabicPeriod" startAt="12"/>
            </a:pPr>
            <a:r>
              <a:rPr lang="en-IN"/>
              <a:t>hour_diff: long (nullable = true)</a:t>
            </a:r>
            <a:endParaRPr/>
          </a:p>
          <a:p>
            <a:pPr indent="-342900" lvl="0" marL="342900" rtl="0" algn="l">
              <a:spcBef>
                <a:spcPts val="1000"/>
              </a:spcBef>
              <a:spcAft>
                <a:spcPts val="0"/>
              </a:spcAft>
              <a:buSzPct val="79999"/>
              <a:buFont typeface="Trebuchet MS"/>
              <a:buAutoNum type="arabicPeriod" startAt="12"/>
            </a:pPr>
            <a:r>
              <a:rPr lang="en-IN"/>
              <a:t>transaction_number: integer (nullable = true)</a:t>
            </a:r>
            <a:endParaRPr/>
          </a:p>
          <a:p>
            <a:pPr indent="-342900" lvl="0" marL="342900" rtl="0" algn="l">
              <a:spcBef>
                <a:spcPts val="1000"/>
              </a:spcBef>
              <a:spcAft>
                <a:spcPts val="0"/>
              </a:spcAft>
              <a:buSzPct val="79999"/>
              <a:buFont typeface="Trebuchet MS"/>
              <a:buAutoNum type="arabicPeriod" startAt="12"/>
            </a:pPr>
            <a:r>
              <a:rPr lang="en-IN"/>
              <a:t>__index_level_0__: long (nullable = true)</a:t>
            </a:r>
            <a:endParaRPr/>
          </a:p>
          <a:p>
            <a:pPr indent="-342900" lvl="0" marL="342900" rtl="0" algn="l">
              <a:spcBef>
                <a:spcPts val="1000"/>
              </a:spcBef>
              <a:spcAft>
                <a:spcPts val="0"/>
              </a:spcAft>
              <a:buSzPct val="79999"/>
              <a:buFont typeface="Trebuchet MS"/>
              <a:buAutoNum type="arabicPeriod" startAt="12"/>
            </a:pPr>
            <a:r>
              <a:rPr lang="en-IN"/>
              <a:t>app_id: integer (nullable = true)</a:t>
            </a:r>
            <a:endParaRPr/>
          </a:p>
          <a:p>
            <a:pPr indent="-342900" lvl="0" marL="342900" rtl="0" algn="l">
              <a:spcBef>
                <a:spcPts val="1000"/>
              </a:spcBef>
              <a:spcAft>
                <a:spcPts val="0"/>
              </a:spcAft>
              <a:buSzPct val="79999"/>
              <a:buFont typeface="Trebuchet MS"/>
              <a:buAutoNum type="arabicPeriod" startAt="12"/>
            </a:pPr>
            <a:r>
              <a:rPr lang="en-IN"/>
              <a:t>product: integer (nullable = true)</a:t>
            </a:r>
            <a:endParaRPr/>
          </a:p>
          <a:p>
            <a:pPr indent="-342900" lvl="0" marL="342900" rtl="0" algn="l">
              <a:spcBef>
                <a:spcPts val="1000"/>
              </a:spcBef>
              <a:spcAft>
                <a:spcPts val="0"/>
              </a:spcAft>
              <a:buSzPct val="79999"/>
              <a:buFont typeface="Trebuchet MS"/>
              <a:buAutoNum type="arabicPeriod" startAt="12"/>
            </a:pPr>
            <a:r>
              <a:rPr lang="en-IN"/>
              <a:t>flag: integer (nullable = true)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3600"/>
              <a:buFont typeface="Lato"/>
              <a:buNone/>
            </a:pPr>
            <a:r>
              <a:rPr b="1" i="0" lang="en-IN">
                <a:solidFill>
                  <a:schemeClr val="accent2"/>
                </a:solidFill>
                <a:latin typeface="Lato"/>
                <a:ea typeface="Lato"/>
                <a:cs typeface="Lato"/>
                <a:sym typeface="Lato"/>
              </a:rPr>
              <a:t>Load essential Python Libraries</a:t>
            </a:r>
            <a:br>
              <a:rPr b="1" i="0" lang="en-IN">
                <a:solidFill>
                  <a:srgbClr val="222222"/>
                </a:solidFill>
                <a:latin typeface="Lato"/>
                <a:ea typeface="Lato"/>
                <a:cs typeface="Lato"/>
                <a:sym typeface="Lato"/>
              </a:rPr>
            </a:br>
            <a:endParaRPr/>
          </a:p>
        </p:txBody>
      </p:sp>
      <p:sp>
        <p:nvSpPr>
          <p:cNvPr id="181" name="Google Shape;181;p7"/>
          <p:cNvSpPr txBox="1"/>
          <p:nvPr>
            <p:ph idx="1" type="body"/>
          </p:nvPr>
        </p:nvSpPr>
        <p:spPr>
          <a:xfrm>
            <a:off x="677334" y="1488613"/>
            <a:ext cx="8596668" cy="388077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SzPct val="79999"/>
              <a:buChar char="►"/>
            </a:pPr>
            <a:r>
              <a:rPr lang="en-IN">
                <a:solidFill>
                  <a:srgbClr val="0C0C0C"/>
                </a:solidFill>
              </a:rPr>
              <a:t> </a:t>
            </a:r>
            <a:r>
              <a:rPr b="0" lang="en-IN">
                <a:solidFill>
                  <a:srgbClr val="0C0C0C"/>
                </a:solidFill>
                <a:latin typeface="Courier New"/>
                <a:ea typeface="Courier New"/>
                <a:cs typeface="Courier New"/>
                <a:sym typeface="Courier New"/>
              </a:rPr>
              <a:t>import pyspark</a:t>
            </a:r>
            <a:endParaRPr b="0">
              <a:solidFill>
                <a:srgbClr val="0C0C0C"/>
              </a:solidFill>
              <a:latin typeface="Courier New"/>
              <a:ea typeface="Courier New"/>
              <a:cs typeface="Courier New"/>
              <a:sym typeface="Courier New"/>
            </a:endParaRPr>
          </a:p>
          <a:p>
            <a:pPr indent="-342900" lvl="0" marL="342900" rtl="0" algn="l">
              <a:spcBef>
                <a:spcPts val="1000"/>
              </a:spcBef>
              <a:spcAft>
                <a:spcPts val="0"/>
              </a:spcAft>
              <a:buSzPct val="79999"/>
              <a:buChar char="►"/>
            </a:pPr>
            <a:r>
              <a:rPr b="0" lang="en-IN">
                <a:solidFill>
                  <a:srgbClr val="0C0C0C"/>
                </a:solidFill>
                <a:latin typeface="Courier New"/>
                <a:ea typeface="Courier New"/>
                <a:cs typeface="Courier New"/>
                <a:sym typeface="Courier New"/>
              </a:rPr>
              <a:t>from pyspark.sql.types import *</a:t>
            </a:r>
            <a:endParaRPr/>
          </a:p>
          <a:p>
            <a:pPr indent="-342900" lvl="0" marL="342900" rtl="0" algn="l">
              <a:spcBef>
                <a:spcPts val="1000"/>
              </a:spcBef>
              <a:spcAft>
                <a:spcPts val="0"/>
              </a:spcAft>
              <a:buSzPct val="79999"/>
              <a:buChar char="►"/>
            </a:pPr>
            <a:r>
              <a:rPr b="0" lang="en-IN">
                <a:solidFill>
                  <a:srgbClr val="0C0C0C"/>
                </a:solidFill>
                <a:latin typeface="Courier New"/>
                <a:ea typeface="Courier New"/>
                <a:cs typeface="Courier New"/>
                <a:sym typeface="Courier New"/>
              </a:rPr>
              <a:t>from pyspark.sql import functions</a:t>
            </a:r>
            <a:endParaRPr/>
          </a:p>
          <a:p>
            <a:pPr indent="-342900" lvl="0" marL="342900" rtl="0" algn="l">
              <a:spcBef>
                <a:spcPts val="1000"/>
              </a:spcBef>
              <a:spcAft>
                <a:spcPts val="0"/>
              </a:spcAft>
              <a:buSzPct val="79999"/>
              <a:buChar char="►"/>
            </a:pPr>
            <a:r>
              <a:rPr b="0" lang="en-IN">
                <a:solidFill>
                  <a:srgbClr val="0C0C0C"/>
                </a:solidFill>
                <a:latin typeface="Courier New"/>
                <a:ea typeface="Courier New"/>
                <a:cs typeface="Courier New"/>
                <a:sym typeface="Courier New"/>
              </a:rPr>
              <a:t>from pyspark.sql.functions import *</a:t>
            </a:r>
            <a:endParaRPr/>
          </a:p>
          <a:p>
            <a:pPr indent="-342900" lvl="0" marL="342900" rtl="0" algn="l">
              <a:spcBef>
                <a:spcPts val="1000"/>
              </a:spcBef>
              <a:spcAft>
                <a:spcPts val="0"/>
              </a:spcAft>
              <a:buSzPct val="79999"/>
              <a:buChar char="►"/>
            </a:pPr>
            <a:r>
              <a:rPr b="0" lang="en-IN">
                <a:solidFill>
                  <a:srgbClr val="0C0C0C"/>
                </a:solidFill>
                <a:latin typeface="Courier New"/>
                <a:ea typeface="Courier New"/>
                <a:cs typeface="Courier New"/>
                <a:sym typeface="Courier New"/>
              </a:rPr>
              <a:t>from pyspark.ml.feature import VectorAssembler</a:t>
            </a:r>
            <a:endParaRPr b="0">
              <a:solidFill>
                <a:srgbClr val="0C0C0C"/>
              </a:solidFill>
              <a:latin typeface="Courier New"/>
              <a:ea typeface="Courier New"/>
              <a:cs typeface="Courier New"/>
              <a:sym typeface="Courier New"/>
            </a:endParaRPr>
          </a:p>
          <a:p>
            <a:pPr indent="-342900" lvl="0" marL="342900" rtl="0" algn="l">
              <a:spcBef>
                <a:spcPts val="1000"/>
              </a:spcBef>
              <a:spcAft>
                <a:spcPts val="0"/>
              </a:spcAft>
              <a:buSzPct val="79999"/>
              <a:buChar char="►"/>
            </a:pPr>
            <a:r>
              <a:rPr b="0" lang="en-IN">
                <a:solidFill>
                  <a:srgbClr val="0C0C0C"/>
                </a:solidFill>
                <a:latin typeface="Courier New"/>
                <a:ea typeface="Courier New"/>
                <a:cs typeface="Courier New"/>
                <a:sym typeface="Courier New"/>
              </a:rPr>
              <a:t>from pyspark.ml.classification import RandomForestClassifier</a:t>
            </a:r>
            <a:endParaRPr b="0">
              <a:solidFill>
                <a:srgbClr val="0C0C0C"/>
              </a:solidFill>
              <a:latin typeface="Courier New"/>
              <a:ea typeface="Courier New"/>
              <a:cs typeface="Courier New"/>
              <a:sym typeface="Courier New"/>
            </a:endParaRPr>
          </a:p>
          <a:p>
            <a:pPr indent="-342900" lvl="0" marL="342900" rtl="0" algn="l">
              <a:spcBef>
                <a:spcPts val="1000"/>
              </a:spcBef>
              <a:spcAft>
                <a:spcPts val="0"/>
              </a:spcAft>
              <a:buSzPct val="79999"/>
              <a:buChar char="►"/>
            </a:pPr>
            <a:r>
              <a:rPr b="0" lang="en-IN">
                <a:solidFill>
                  <a:srgbClr val="0C0C0C"/>
                </a:solidFill>
                <a:latin typeface="Courier New"/>
                <a:ea typeface="Courier New"/>
                <a:cs typeface="Courier New"/>
                <a:sym typeface="Courier New"/>
              </a:rPr>
              <a:t>from pyspark.ml.tuning import ParamGridBuilder</a:t>
            </a:r>
            <a:endParaRPr b="0">
              <a:solidFill>
                <a:srgbClr val="0C0C0C"/>
              </a:solidFill>
              <a:latin typeface="Courier New"/>
              <a:ea typeface="Courier New"/>
              <a:cs typeface="Courier New"/>
              <a:sym typeface="Courier New"/>
            </a:endParaRPr>
          </a:p>
          <a:p>
            <a:pPr indent="-342900" lvl="0" marL="342900" rtl="0" algn="l">
              <a:spcBef>
                <a:spcPts val="1000"/>
              </a:spcBef>
              <a:spcAft>
                <a:spcPts val="0"/>
              </a:spcAft>
              <a:buSzPct val="79999"/>
              <a:buChar char="►"/>
            </a:pPr>
            <a:r>
              <a:rPr b="0" lang="en-IN">
                <a:solidFill>
                  <a:srgbClr val="0C0C0C"/>
                </a:solidFill>
                <a:latin typeface="Courier New"/>
                <a:ea typeface="Courier New"/>
                <a:cs typeface="Courier New"/>
                <a:sym typeface="Courier New"/>
              </a:rPr>
              <a:t>from pyspark.ml.tuning import TrainValidationSplit</a:t>
            </a:r>
            <a:endParaRPr b="0">
              <a:solidFill>
                <a:srgbClr val="0C0C0C"/>
              </a:solidFill>
              <a:latin typeface="Courier New"/>
              <a:ea typeface="Courier New"/>
              <a:cs typeface="Courier New"/>
              <a:sym typeface="Courier New"/>
            </a:endParaRPr>
          </a:p>
          <a:p>
            <a:pPr indent="-342900" lvl="0" marL="342900" rtl="0" algn="l">
              <a:spcBef>
                <a:spcPts val="1000"/>
              </a:spcBef>
              <a:spcAft>
                <a:spcPts val="0"/>
              </a:spcAft>
              <a:buSzPct val="79999"/>
              <a:buChar char="►"/>
            </a:pPr>
            <a:r>
              <a:rPr b="0" lang="en-IN">
                <a:solidFill>
                  <a:srgbClr val="0C0C0C"/>
                </a:solidFill>
                <a:latin typeface="Courier New"/>
                <a:ea typeface="Courier New"/>
                <a:cs typeface="Courier New"/>
                <a:sym typeface="Courier New"/>
              </a:rPr>
              <a:t>from pyspark.ml.evaluation import BinaryClassificationEvaluator</a:t>
            </a:r>
            <a:endParaRPr b="0">
              <a:solidFill>
                <a:srgbClr val="0C0C0C"/>
              </a:solidFill>
              <a:latin typeface="Courier New"/>
              <a:ea typeface="Courier New"/>
              <a:cs typeface="Courier New"/>
              <a:sym typeface="Courier New"/>
            </a:endParaRPr>
          </a:p>
          <a:p>
            <a:pPr indent="-342900" lvl="0" marL="342900" rtl="0" algn="l">
              <a:spcBef>
                <a:spcPts val="1000"/>
              </a:spcBef>
              <a:spcAft>
                <a:spcPts val="0"/>
              </a:spcAft>
              <a:buSzPct val="79999"/>
              <a:buChar char="►"/>
            </a:pPr>
            <a:r>
              <a:rPr b="0" lang="en-IN">
                <a:solidFill>
                  <a:srgbClr val="0C0C0C"/>
                </a:solidFill>
                <a:latin typeface="Courier New"/>
                <a:ea typeface="Courier New"/>
                <a:cs typeface="Courier New"/>
                <a:sym typeface="Courier New"/>
              </a:rPr>
              <a:t>from pyspark.ml import Pipeline</a:t>
            </a:r>
            <a:endParaRPr/>
          </a:p>
          <a:p>
            <a:pPr indent="-342900" lvl="0" marL="342900" rtl="0" algn="l">
              <a:spcBef>
                <a:spcPts val="1000"/>
              </a:spcBef>
              <a:spcAft>
                <a:spcPts val="0"/>
              </a:spcAft>
              <a:buSzPct val="79999"/>
              <a:buChar char="►"/>
            </a:pPr>
            <a:r>
              <a:rPr b="0" lang="en-IN">
                <a:solidFill>
                  <a:srgbClr val="0C0C0C"/>
                </a:solidFill>
                <a:latin typeface="Courier New"/>
                <a:ea typeface="Courier New"/>
                <a:cs typeface="Courier New"/>
                <a:sym typeface="Courier New"/>
              </a:rPr>
              <a:t>from sklearn import metrics</a:t>
            </a:r>
            <a:br>
              <a:rPr b="0" lang="en-IN">
                <a:solidFill>
                  <a:srgbClr val="0C0C0C"/>
                </a:solidFill>
                <a:latin typeface="Courier New"/>
                <a:ea typeface="Courier New"/>
                <a:cs typeface="Courier New"/>
                <a:sym typeface="Courier New"/>
              </a:rPr>
            </a:br>
            <a:r>
              <a:rPr b="0" lang="en-IN">
                <a:solidFill>
                  <a:srgbClr val="0C0C0C"/>
                </a:solidFill>
                <a:latin typeface="Courier New"/>
                <a:ea typeface="Courier New"/>
                <a:cs typeface="Courier New"/>
                <a:sym typeface="Courier New"/>
              </a:rPr>
              <a:t>import matplotlib.pyplot as plt</a:t>
            </a:r>
            <a:endParaRPr b="0">
              <a:solidFill>
                <a:srgbClr val="0C0C0C"/>
              </a:solidFill>
              <a:latin typeface="Courier New"/>
              <a:ea typeface="Courier New"/>
              <a:cs typeface="Courier New"/>
              <a:sym typeface="Courier New"/>
            </a:endParaRPr>
          </a:p>
          <a:p>
            <a:pPr indent="0" lvl="0" marL="0" rtl="0" algn="l">
              <a:spcBef>
                <a:spcPts val="1000"/>
              </a:spcBef>
              <a:spcAft>
                <a:spcPts val="0"/>
              </a:spcAft>
              <a:buSzPct val="79999"/>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3F7818"/>
              </a:buClr>
              <a:buSzPts val="3600"/>
              <a:buFont typeface="Lato"/>
              <a:buNone/>
            </a:pPr>
            <a:r>
              <a:rPr b="1" i="0" lang="en-IN">
                <a:solidFill>
                  <a:srgbClr val="3F7818"/>
                </a:solidFill>
                <a:latin typeface="Lato"/>
                <a:ea typeface="Lato"/>
                <a:cs typeface="Lato"/>
                <a:sym typeface="Lato"/>
              </a:rPr>
              <a:t>Load Training/Test datasets</a:t>
            </a:r>
            <a:br>
              <a:rPr b="1" i="0" lang="en-IN">
                <a:solidFill>
                  <a:srgbClr val="222222"/>
                </a:solidFill>
                <a:latin typeface="Lato"/>
                <a:ea typeface="Lato"/>
                <a:cs typeface="Lato"/>
                <a:sym typeface="Lato"/>
              </a:rPr>
            </a:br>
            <a:endParaRPr/>
          </a:p>
        </p:txBody>
      </p:sp>
      <p:pic>
        <p:nvPicPr>
          <p:cNvPr id="187" name="Google Shape;187;p8"/>
          <p:cNvPicPr preferRelativeResize="0"/>
          <p:nvPr>
            <p:ph idx="1" type="body"/>
          </p:nvPr>
        </p:nvPicPr>
        <p:blipFill rotWithShape="1">
          <a:blip r:embed="rId3">
            <a:alphaModFix/>
          </a:blip>
          <a:srcRect b="0" l="0" r="0" t="0"/>
          <a:stretch/>
        </p:blipFill>
        <p:spPr>
          <a:xfrm>
            <a:off x="976032" y="1908112"/>
            <a:ext cx="6096528" cy="152088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6C911C"/>
              </a:buClr>
              <a:buSzPts val="3600"/>
              <a:buFont typeface="Lato"/>
              <a:buNone/>
            </a:pPr>
            <a:r>
              <a:rPr b="1" i="0" lang="en-IN">
                <a:solidFill>
                  <a:srgbClr val="6C911C"/>
                </a:solidFill>
                <a:latin typeface="Lato"/>
                <a:ea typeface="Lato"/>
                <a:cs typeface="Lato"/>
                <a:sym typeface="Lato"/>
              </a:rPr>
              <a:t>Data Preprocessing</a:t>
            </a:r>
            <a:endParaRPr>
              <a:solidFill>
                <a:srgbClr val="6C911C"/>
              </a:solidFill>
            </a:endParaRPr>
          </a:p>
        </p:txBody>
      </p:sp>
      <p:sp>
        <p:nvSpPr>
          <p:cNvPr id="193" name="Google Shape;193;p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b="0" i="0" lang="en-IN">
                <a:solidFill>
                  <a:srgbClr val="222222"/>
                </a:solidFill>
                <a:latin typeface="Lato"/>
                <a:ea typeface="Lato"/>
                <a:cs typeface="Lato"/>
                <a:sym typeface="Lato"/>
              </a:rPr>
              <a:t>dropping the unwanted column :</a:t>
            </a:r>
            <a:endParaRPr/>
          </a:p>
          <a:p>
            <a:pPr indent="0" lvl="0" marL="0" rtl="0" algn="l">
              <a:spcBef>
                <a:spcPts val="1000"/>
              </a:spcBef>
              <a:spcAft>
                <a:spcPts val="0"/>
              </a:spcAft>
              <a:buSzPts val="1440"/>
              <a:buNone/>
            </a:pPr>
            <a:r>
              <a:rPr lang="en-IN"/>
              <a:t> </a:t>
            </a:r>
            <a:br>
              <a:rPr lang="en-IN"/>
            </a:b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t/>
            </a:r>
            <a:endParaRPr/>
          </a:p>
          <a:p>
            <a:pPr indent="-342900" lvl="0" marL="342900" rtl="0" algn="l">
              <a:spcBef>
                <a:spcPts val="1000"/>
              </a:spcBef>
              <a:spcAft>
                <a:spcPts val="0"/>
              </a:spcAft>
              <a:buSzPts val="1440"/>
              <a:buFont typeface="Noto Sans Symbols"/>
              <a:buChar char="⮚"/>
            </a:pPr>
            <a:r>
              <a:rPr b="1" lang="en-IN"/>
              <a:t> Identify Missing Values:  There are no any missing values in our dataset.</a:t>
            </a:r>
            <a:endParaRPr/>
          </a:p>
          <a:p>
            <a:pPr indent="-251459" lvl="0" marL="342900" rtl="0" algn="l">
              <a:spcBef>
                <a:spcPts val="1000"/>
              </a:spcBef>
              <a:spcAft>
                <a:spcPts val="0"/>
              </a:spcAft>
              <a:buSzPts val="1440"/>
              <a:buFont typeface="Noto Sans Symbols"/>
              <a:buNone/>
            </a:pPr>
            <a:r>
              <a:t/>
            </a:r>
            <a:endParaRPr/>
          </a:p>
          <a:p>
            <a:pPr indent="0" lvl="0" marL="0" rtl="0" algn="l">
              <a:spcBef>
                <a:spcPts val="1000"/>
              </a:spcBef>
              <a:spcAft>
                <a:spcPts val="0"/>
              </a:spcAft>
              <a:buSzPts val="1440"/>
              <a:buNone/>
            </a:pPr>
            <a:r>
              <a:t/>
            </a:r>
            <a:endParaRPr/>
          </a:p>
        </p:txBody>
      </p:sp>
      <p:pic>
        <p:nvPicPr>
          <p:cNvPr id="194" name="Google Shape;194;p9"/>
          <p:cNvPicPr preferRelativeResize="0"/>
          <p:nvPr/>
        </p:nvPicPr>
        <p:blipFill rotWithShape="1">
          <a:blip r:embed="rId3">
            <a:alphaModFix/>
          </a:blip>
          <a:srcRect b="0" l="0" r="0" t="0"/>
          <a:stretch/>
        </p:blipFill>
        <p:spPr>
          <a:xfrm>
            <a:off x="2661450" y="2919439"/>
            <a:ext cx="4275190" cy="73920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6C911C"/>
              </a:buClr>
              <a:buSzPts val="3600"/>
              <a:buFont typeface="Lato"/>
              <a:buNone/>
            </a:pPr>
            <a:r>
              <a:rPr b="1" i="0" lang="en-IN">
                <a:solidFill>
                  <a:srgbClr val="6C911C"/>
                </a:solidFill>
                <a:latin typeface="Lato"/>
                <a:ea typeface="Lato"/>
                <a:cs typeface="Lato"/>
                <a:sym typeface="Lato"/>
              </a:rPr>
              <a:t>Exploratory data analysis (EDA)</a:t>
            </a:r>
            <a:br>
              <a:rPr b="1" i="0" lang="en-IN">
                <a:solidFill>
                  <a:srgbClr val="222222"/>
                </a:solidFill>
                <a:latin typeface="Lato"/>
                <a:ea typeface="Lato"/>
                <a:cs typeface="Lato"/>
                <a:sym typeface="Lato"/>
              </a:rPr>
            </a:br>
            <a:endParaRPr/>
          </a:p>
        </p:txBody>
      </p:sp>
      <p:sp>
        <p:nvSpPr>
          <p:cNvPr id="200" name="Google Shape;200;p10"/>
          <p:cNvSpPr txBox="1"/>
          <p:nvPr>
            <p:ph idx="1" type="body"/>
          </p:nvPr>
        </p:nvSpPr>
        <p:spPr>
          <a:xfrm>
            <a:off x="677334" y="1688841"/>
            <a:ext cx="8596668" cy="435252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b="1" i="1" lang="en-IN" sz="1800">
                <a:solidFill>
                  <a:srgbClr val="44546A"/>
                </a:solidFill>
                <a:latin typeface="Calibri"/>
                <a:ea typeface="Calibri"/>
                <a:cs typeface="Calibri"/>
                <a:sym typeface="Calibri"/>
              </a:rPr>
              <a:t>Distinct values in each column of the dataset</a:t>
            </a:r>
            <a:endParaRPr/>
          </a:p>
          <a:p>
            <a:pPr indent="-251459" lvl="0" marL="342900" rtl="0" algn="l">
              <a:spcBef>
                <a:spcPts val="1000"/>
              </a:spcBef>
              <a:spcAft>
                <a:spcPts val="0"/>
              </a:spcAft>
              <a:buSzPts val="1440"/>
              <a:buNone/>
            </a:pPr>
            <a:r>
              <a:t/>
            </a:r>
            <a:endParaRPr b="1"/>
          </a:p>
        </p:txBody>
      </p:sp>
      <p:pic>
        <p:nvPicPr>
          <p:cNvPr id="201" name="Google Shape;201;p10"/>
          <p:cNvPicPr preferRelativeResize="0"/>
          <p:nvPr/>
        </p:nvPicPr>
        <p:blipFill rotWithShape="1">
          <a:blip r:embed="rId3">
            <a:alphaModFix/>
          </a:blip>
          <a:srcRect b="18746" l="0" r="13479" t="23516"/>
          <a:stretch/>
        </p:blipFill>
        <p:spPr>
          <a:xfrm>
            <a:off x="2731504" y="2593910"/>
            <a:ext cx="5880651" cy="30324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6C911C"/>
              </a:buClr>
              <a:buSzPts val="3600"/>
              <a:buFont typeface="Lato"/>
              <a:buNone/>
            </a:pPr>
            <a:r>
              <a:rPr b="1" i="0" lang="en-IN">
                <a:solidFill>
                  <a:srgbClr val="6C911C"/>
                </a:solidFill>
                <a:latin typeface="Lato"/>
                <a:ea typeface="Lato"/>
                <a:cs typeface="Lato"/>
                <a:sym typeface="Lato"/>
              </a:rPr>
              <a:t>Build Machine Learning Model</a:t>
            </a:r>
            <a:br>
              <a:rPr b="1" i="0" lang="en-IN">
                <a:solidFill>
                  <a:srgbClr val="222222"/>
                </a:solidFill>
                <a:latin typeface="Lato"/>
                <a:ea typeface="Lato"/>
                <a:cs typeface="Lato"/>
                <a:sym typeface="Lato"/>
              </a:rPr>
            </a:br>
            <a:endParaRPr/>
          </a:p>
        </p:txBody>
      </p:sp>
      <p:sp>
        <p:nvSpPr>
          <p:cNvPr id="207" name="Google Shape;207;p1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b="1" i="1" lang="en-IN"/>
              <a:t>In Building ML model we use RandomForset.</a:t>
            </a:r>
            <a:endParaRPr/>
          </a:p>
          <a:p>
            <a:pPr indent="-342900" lvl="0" marL="342900" rtl="0" algn="l">
              <a:spcBef>
                <a:spcPts val="1000"/>
              </a:spcBef>
              <a:spcAft>
                <a:spcPts val="0"/>
              </a:spcAft>
              <a:buSzPts val="1440"/>
              <a:buChar char="►"/>
            </a:pPr>
            <a:r>
              <a:rPr b="1" i="1" lang="en-IN"/>
              <a:t>We train model on AWS EMR(Elastic MapReduce)</a:t>
            </a:r>
            <a:endParaRPr/>
          </a:p>
          <a:p>
            <a:pPr indent="-342900" lvl="0" marL="342900" rtl="0" algn="l">
              <a:spcBef>
                <a:spcPts val="1000"/>
              </a:spcBef>
              <a:spcAft>
                <a:spcPts val="0"/>
              </a:spcAft>
              <a:buSzPts val="1440"/>
              <a:buChar char="►"/>
            </a:pPr>
            <a:r>
              <a:rPr b="1" i="1" lang="en-IN">
                <a:solidFill>
                  <a:srgbClr val="333333"/>
                </a:solidFill>
                <a:latin typeface="Inter"/>
                <a:ea typeface="Inter"/>
                <a:cs typeface="Inter"/>
                <a:sym typeface="Inter"/>
              </a:rPr>
              <a:t>It is based on the concept of </a:t>
            </a:r>
            <a:r>
              <a:rPr b="1" i="1" lang="en-IN">
                <a:solidFill>
                  <a:srgbClr val="333333"/>
                </a:solidFill>
                <a:latin typeface="Inter"/>
                <a:ea typeface="Inter"/>
                <a:cs typeface="Inter"/>
                <a:sym typeface="Inter"/>
              </a:rPr>
              <a:t>ensemble learning,</a:t>
            </a:r>
            <a:r>
              <a:rPr b="1" i="1" lang="en-IN">
                <a:solidFill>
                  <a:srgbClr val="333333"/>
                </a:solidFill>
                <a:latin typeface="Inter"/>
                <a:ea typeface="Inter"/>
                <a:cs typeface="Inter"/>
                <a:sym typeface="Inter"/>
              </a:rPr>
              <a:t> which is a process of combining multiple classifiers to solve a complex problem and to improve the performance of the model.</a:t>
            </a:r>
            <a:endParaRPr/>
          </a:p>
          <a:p>
            <a:pPr indent="-251459" lvl="0" marL="342900" rtl="0" algn="l">
              <a:spcBef>
                <a:spcPts val="1000"/>
              </a:spcBef>
              <a:spcAft>
                <a:spcPts val="0"/>
              </a:spcAft>
              <a:buSzPts val="1440"/>
              <a:buNone/>
            </a:pPr>
            <a:r>
              <a:t/>
            </a:r>
            <a:endParaRPr/>
          </a:p>
          <a:p>
            <a:pPr indent="-342900" lvl="0" marL="342900" rtl="0" algn="l">
              <a:spcBef>
                <a:spcPts val="1000"/>
              </a:spcBef>
              <a:spcAft>
                <a:spcPts val="0"/>
              </a:spcAft>
              <a:buSzPts val="1440"/>
              <a:buChar char="►"/>
            </a:pPr>
            <a:r>
              <a:rPr b="1" i="1" lang="en-IN"/>
              <a:t>To fine tuning the parameters we use </a:t>
            </a:r>
            <a:r>
              <a:rPr b="1" i="1" lang="en-IN">
                <a:solidFill>
                  <a:srgbClr val="1B5162"/>
                </a:solidFill>
                <a:latin typeface="Open Sans"/>
                <a:ea typeface="Open Sans"/>
                <a:cs typeface="Open Sans"/>
                <a:sym typeface="Open Sans"/>
              </a:rPr>
              <a:t>ParamGridBuilder.</a:t>
            </a:r>
            <a:endParaRPr/>
          </a:p>
          <a:p>
            <a:pPr indent="-251459" lvl="0" marL="342900" rtl="0" algn="l">
              <a:spcBef>
                <a:spcPts val="1000"/>
              </a:spcBef>
              <a:spcAft>
                <a:spcPts val="0"/>
              </a:spcAft>
              <a:buSzPts val="1440"/>
              <a:buNone/>
            </a:pPr>
            <a:r>
              <a:t/>
            </a:r>
            <a:endParaRPr/>
          </a:p>
          <a:p>
            <a:pPr indent="-251459" lvl="0" marL="342900" rtl="0" algn="l">
              <a:spcBef>
                <a:spcPts val="1000"/>
              </a:spcBef>
              <a:spcAft>
                <a:spcPts val="0"/>
              </a:spcAft>
              <a:buSzPts val="1440"/>
              <a:buNone/>
            </a:pPr>
            <a:r>
              <a:t/>
            </a:r>
            <a:endParaRPr/>
          </a:p>
        </p:txBody>
      </p:sp>
      <p:pic>
        <p:nvPicPr>
          <p:cNvPr id="208" name="Google Shape;208;p11"/>
          <p:cNvPicPr preferRelativeResize="0"/>
          <p:nvPr/>
        </p:nvPicPr>
        <p:blipFill rotWithShape="1">
          <a:blip r:embed="rId3">
            <a:alphaModFix/>
          </a:blip>
          <a:srcRect b="0" l="0" r="0" t="0"/>
          <a:stretch/>
        </p:blipFill>
        <p:spPr>
          <a:xfrm>
            <a:off x="1991167" y="4768712"/>
            <a:ext cx="5037257" cy="1272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6C911C"/>
              </a:buClr>
              <a:buSzPts val="3600"/>
              <a:buFont typeface="Lato"/>
              <a:buNone/>
            </a:pPr>
            <a:r>
              <a:rPr b="1" i="0" lang="en-IN">
                <a:solidFill>
                  <a:srgbClr val="6C911C"/>
                </a:solidFill>
                <a:latin typeface="Lato"/>
                <a:ea typeface="Lato"/>
                <a:cs typeface="Lato"/>
                <a:sym typeface="Lato"/>
              </a:rPr>
              <a:t>Making prediction on test datasets</a:t>
            </a:r>
            <a:br>
              <a:rPr b="1" i="0" lang="en-IN">
                <a:solidFill>
                  <a:srgbClr val="6C911C"/>
                </a:solidFill>
                <a:latin typeface="Lato"/>
                <a:ea typeface="Lato"/>
                <a:cs typeface="Lato"/>
                <a:sym typeface="Lato"/>
              </a:rPr>
            </a:br>
            <a:endParaRPr>
              <a:solidFill>
                <a:srgbClr val="6C911C"/>
              </a:solidFill>
            </a:endParaRPr>
          </a:p>
        </p:txBody>
      </p:sp>
      <p:sp>
        <p:nvSpPr>
          <p:cNvPr id="214" name="Google Shape;214;p1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IN"/>
              <a:t> </a:t>
            </a:r>
            <a:r>
              <a:rPr b="1" lang="en-IN" sz="1600"/>
              <a:t>After training our model we get accuracy, precision, recall and f1 score as.</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Accuracy : 0.9732311608134088 </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F1 : 0.9600283141563276</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 Precision : 0.9471788923782151</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 Recall : 0.9732311608134088</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 AUC : 0.5</a:t>
            </a:r>
            <a:endParaRPr/>
          </a:p>
          <a:p>
            <a:pPr indent="-271780" lvl="0" marL="342900" rtl="0" algn="l">
              <a:spcBef>
                <a:spcPts val="1000"/>
              </a:spcBef>
              <a:spcAft>
                <a:spcPts val="0"/>
              </a:spcAft>
              <a:buSzPts val="1120"/>
              <a:buNone/>
            </a:pPr>
            <a:r>
              <a:t/>
            </a:r>
            <a:endParaRPr b="1" sz="1400">
              <a:solidFill>
                <a:srgbClr val="0C0C0C"/>
              </a:solidFill>
            </a:endParaRPr>
          </a:p>
        </p:txBody>
      </p:sp>
      <p:pic>
        <p:nvPicPr>
          <p:cNvPr id="215" name="Google Shape;215;p12"/>
          <p:cNvPicPr preferRelativeResize="0"/>
          <p:nvPr/>
        </p:nvPicPr>
        <p:blipFill rotWithShape="1">
          <a:blip r:embed="rId3">
            <a:alphaModFix/>
          </a:blip>
          <a:srcRect b="24349" l="13298" r="5717" t="51536"/>
          <a:stretch/>
        </p:blipFill>
        <p:spPr>
          <a:xfrm>
            <a:off x="1461732" y="4654576"/>
            <a:ext cx="8596668" cy="77724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3"/>
          <p:cNvSpPr txBox="1"/>
          <p:nvPr>
            <p:ph type="title"/>
          </p:nvPr>
        </p:nvSpPr>
        <p:spPr>
          <a:xfrm>
            <a:off x="677334" y="609600"/>
            <a:ext cx="8596668" cy="6780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486112"/>
              </a:buClr>
              <a:buSzPts val="3200"/>
              <a:buFont typeface="Calibri"/>
              <a:buNone/>
            </a:pPr>
            <a:r>
              <a:rPr lang="en-IN" sz="3200">
                <a:solidFill>
                  <a:srgbClr val="486112"/>
                </a:solidFill>
                <a:latin typeface="Calibri"/>
                <a:ea typeface="Calibri"/>
                <a:cs typeface="Calibri"/>
                <a:sym typeface="Calibri"/>
              </a:rPr>
              <a:t>XGBoost</a:t>
            </a:r>
            <a:endParaRPr sz="3200">
              <a:solidFill>
                <a:srgbClr val="486112"/>
              </a:solidFill>
            </a:endParaRPr>
          </a:p>
        </p:txBody>
      </p:sp>
      <p:sp>
        <p:nvSpPr>
          <p:cNvPr id="221" name="Google Shape;221;p1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IN" sz="1800">
                <a:solidFill>
                  <a:srgbClr val="000000"/>
                </a:solidFill>
                <a:latin typeface="Calibri"/>
                <a:ea typeface="Calibri"/>
                <a:cs typeface="Calibri"/>
                <a:sym typeface="Calibri"/>
              </a:rPr>
              <a:t>XGBoost is a decision-tree-based ensemble Machine Learning algorithm that uses a gradient boosting framework.</a:t>
            </a:r>
            <a:endParaRPr/>
          </a:p>
          <a:p>
            <a:pPr indent="-251459" lvl="0" marL="342900" rtl="0" algn="l">
              <a:spcBef>
                <a:spcPts val="1000"/>
              </a:spcBef>
              <a:spcAft>
                <a:spcPts val="0"/>
              </a:spcAft>
              <a:buSzPts val="1440"/>
              <a:buNone/>
            </a:pPr>
            <a:r>
              <a:t/>
            </a:r>
            <a:endParaRPr/>
          </a:p>
        </p:txBody>
      </p:sp>
      <p:pic>
        <p:nvPicPr>
          <p:cNvPr id="222" name="Google Shape;222;p13"/>
          <p:cNvPicPr preferRelativeResize="0"/>
          <p:nvPr/>
        </p:nvPicPr>
        <p:blipFill rotWithShape="1">
          <a:blip r:embed="rId3">
            <a:alphaModFix/>
          </a:blip>
          <a:srcRect b="34100" l="0" r="1648" t="35018"/>
          <a:stretch/>
        </p:blipFill>
        <p:spPr>
          <a:xfrm>
            <a:off x="1730258" y="3845877"/>
            <a:ext cx="5633720" cy="99504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txBox="1"/>
          <p:nvPr>
            <p:ph type="title"/>
          </p:nvPr>
        </p:nvSpPr>
        <p:spPr>
          <a:xfrm>
            <a:off x="677334" y="609600"/>
            <a:ext cx="8596668" cy="80684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IN"/>
              <a:t>Model Comparison</a:t>
            </a:r>
            <a:endParaRPr/>
          </a:p>
        </p:txBody>
      </p:sp>
      <p:sp>
        <p:nvSpPr>
          <p:cNvPr id="228" name="Google Shape;228;p14"/>
          <p:cNvSpPr txBox="1"/>
          <p:nvPr>
            <p:ph idx="1" type="body"/>
          </p:nvPr>
        </p:nvSpPr>
        <p:spPr>
          <a:xfrm>
            <a:off x="675745" y="1416445"/>
            <a:ext cx="4185623" cy="74453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1920"/>
              <a:buNone/>
            </a:pPr>
            <a:r>
              <a:rPr lang="en-IN">
                <a:solidFill>
                  <a:srgbClr val="486112"/>
                </a:solidFill>
              </a:rPr>
              <a:t>RandomForest</a:t>
            </a:r>
            <a:endParaRPr>
              <a:solidFill>
                <a:srgbClr val="486112"/>
              </a:solidFill>
            </a:endParaRPr>
          </a:p>
        </p:txBody>
      </p:sp>
      <p:sp>
        <p:nvSpPr>
          <p:cNvPr id="229" name="Google Shape;229;p14"/>
          <p:cNvSpPr txBox="1"/>
          <p:nvPr>
            <p:ph idx="2" type="body"/>
          </p:nvPr>
        </p:nvSpPr>
        <p:spPr>
          <a:xfrm>
            <a:off x="675745" y="2312082"/>
            <a:ext cx="4185623" cy="351669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120"/>
              <a:buChar char="►"/>
            </a:pPr>
            <a:r>
              <a:rPr b="1" i="0" lang="en-IN" sz="1400">
                <a:solidFill>
                  <a:srgbClr val="0C0C0C"/>
                </a:solidFill>
                <a:latin typeface="Courier New"/>
                <a:ea typeface="Courier New"/>
                <a:cs typeface="Courier New"/>
                <a:sym typeface="Courier New"/>
              </a:rPr>
              <a:t>Accuracy : 0.9732311608134088 </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F1 : 0.9600283141563276</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 Precision : 0.9471788923782151</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 Recall : 0.9732311608134088</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 AUC : 0.5</a:t>
            </a:r>
            <a:endParaRPr/>
          </a:p>
          <a:p>
            <a:pPr indent="-271780" lvl="0" marL="342900" rtl="0" algn="l">
              <a:spcBef>
                <a:spcPts val="1000"/>
              </a:spcBef>
              <a:spcAft>
                <a:spcPts val="0"/>
              </a:spcAft>
              <a:buSzPts val="1120"/>
              <a:buNone/>
            </a:pPr>
            <a:r>
              <a:t/>
            </a:r>
            <a:endParaRPr b="1" i="0" sz="1400">
              <a:solidFill>
                <a:srgbClr val="0C0C0C"/>
              </a:solidFill>
              <a:latin typeface="Courier New"/>
              <a:ea typeface="Courier New"/>
              <a:cs typeface="Courier New"/>
              <a:sym typeface="Courier New"/>
            </a:endParaRPr>
          </a:p>
          <a:p>
            <a:pPr indent="-251459" lvl="0" marL="342900" rtl="0" algn="l">
              <a:spcBef>
                <a:spcPts val="1000"/>
              </a:spcBef>
              <a:spcAft>
                <a:spcPts val="0"/>
              </a:spcAft>
              <a:buSzPts val="1440"/>
              <a:buNone/>
            </a:pPr>
            <a:r>
              <a:t/>
            </a:r>
            <a:endParaRPr/>
          </a:p>
        </p:txBody>
      </p:sp>
      <p:sp>
        <p:nvSpPr>
          <p:cNvPr id="230" name="Google Shape;230;p14"/>
          <p:cNvSpPr txBox="1"/>
          <p:nvPr>
            <p:ph idx="3" type="body"/>
          </p:nvPr>
        </p:nvSpPr>
        <p:spPr>
          <a:xfrm>
            <a:off x="5088383" y="1567543"/>
            <a:ext cx="4185618" cy="59344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1920"/>
              <a:buNone/>
            </a:pPr>
            <a:r>
              <a:rPr lang="en-IN">
                <a:solidFill>
                  <a:srgbClr val="486112"/>
                </a:solidFill>
              </a:rPr>
              <a:t>XGBoost</a:t>
            </a:r>
            <a:endParaRPr>
              <a:solidFill>
                <a:srgbClr val="486112"/>
              </a:solidFill>
            </a:endParaRPr>
          </a:p>
        </p:txBody>
      </p:sp>
      <p:sp>
        <p:nvSpPr>
          <p:cNvPr id="231" name="Google Shape;231;p14"/>
          <p:cNvSpPr txBox="1"/>
          <p:nvPr>
            <p:ph idx="4" type="body"/>
          </p:nvPr>
        </p:nvSpPr>
        <p:spPr>
          <a:xfrm>
            <a:off x="5088384" y="2312082"/>
            <a:ext cx="4185617" cy="37292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120"/>
              <a:buChar char="►"/>
            </a:pPr>
            <a:r>
              <a:rPr b="1" i="0" lang="en-IN" sz="1400">
                <a:solidFill>
                  <a:srgbClr val="0C0C0C"/>
                </a:solidFill>
                <a:latin typeface="Courier New"/>
                <a:ea typeface="Courier New"/>
                <a:cs typeface="Courier New"/>
                <a:sym typeface="Courier New"/>
              </a:rPr>
              <a:t>Accuracy0.9739414562573261</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 F1 : 0.9619379781363544</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 Precision:0.97400185814527</a:t>
            </a:r>
            <a:endParaRPr/>
          </a:p>
          <a:p>
            <a:pPr indent="-342900" lvl="0" marL="342900" rtl="0" algn="l">
              <a:spcBef>
                <a:spcPts val="1000"/>
              </a:spcBef>
              <a:spcAft>
                <a:spcPts val="0"/>
              </a:spcAft>
              <a:buSzPts val="1120"/>
              <a:buChar char="►"/>
            </a:pPr>
            <a:r>
              <a:rPr b="1" i="0" lang="en-IN" sz="1400">
                <a:solidFill>
                  <a:srgbClr val="0C0C0C"/>
                </a:solidFill>
                <a:latin typeface="Courier New"/>
                <a:ea typeface="Courier New"/>
                <a:cs typeface="Courier New"/>
                <a:sym typeface="Courier New"/>
              </a:rPr>
              <a:t> Recall:0.9739414562573261</a:t>
            </a:r>
            <a:endParaRPr b="1" sz="1400">
              <a:solidFill>
                <a:srgbClr val="0C0C0C"/>
              </a:solidFill>
            </a:endParaRPr>
          </a:p>
        </p:txBody>
      </p:sp>
      <p:pic>
        <p:nvPicPr>
          <p:cNvPr id="232" name="Google Shape;232;p14"/>
          <p:cNvPicPr preferRelativeResize="0"/>
          <p:nvPr/>
        </p:nvPicPr>
        <p:blipFill rotWithShape="1">
          <a:blip r:embed="rId3">
            <a:alphaModFix/>
          </a:blip>
          <a:srcRect b="0" l="0" r="18952" t="0"/>
          <a:stretch/>
        </p:blipFill>
        <p:spPr>
          <a:xfrm>
            <a:off x="921971" y="4193780"/>
            <a:ext cx="2701937" cy="2495550"/>
          </a:xfrm>
          <a:prstGeom prst="rect">
            <a:avLst/>
          </a:prstGeom>
          <a:noFill/>
          <a:ln>
            <a:noFill/>
          </a:ln>
        </p:spPr>
      </p:pic>
      <p:pic>
        <p:nvPicPr>
          <p:cNvPr id="233" name="Google Shape;233;p14"/>
          <p:cNvPicPr preferRelativeResize="0"/>
          <p:nvPr/>
        </p:nvPicPr>
        <p:blipFill rotWithShape="1">
          <a:blip r:embed="rId4">
            <a:alphaModFix/>
          </a:blip>
          <a:srcRect b="0" l="0" r="18952" t="0"/>
          <a:stretch/>
        </p:blipFill>
        <p:spPr>
          <a:xfrm>
            <a:off x="5442946" y="4070431"/>
            <a:ext cx="2701937" cy="2495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5"/>
          <p:cNvSpPr txBox="1"/>
          <p:nvPr>
            <p:ph type="title"/>
          </p:nvPr>
        </p:nvSpPr>
        <p:spPr>
          <a:xfrm>
            <a:off x="677334" y="156238"/>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IN"/>
              <a:t>Deployment</a:t>
            </a:r>
            <a:endParaRPr/>
          </a:p>
        </p:txBody>
      </p:sp>
      <p:sp>
        <p:nvSpPr>
          <p:cNvPr id="239" name="Google Shape;239;p15"/>
          <p:cNvSpPr txBox="1"/>
          <p:nvPr>
            <p:ph idx="1" type="body"/>
          </p:nvPr>
        </p:nvSpPr>
        <p:spPr>
          <a:xfrm>
            <a:off x="677334" y="984933"/>
            <a:ext cx="8596668" cy="255137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IN"/>
              <a:t>After training our model we make a web application using flask in that we take two value one is customer Id and application ID.</a:t>
            </a:r>
            <a:endParaRPr/>
          </a:p>
          <a:p>
            <a:pPr indent="-342900" lvl="0" marL="342900" rtl="0" algn="l">
              <a:spcBef>
                <a:spcPts val="1000"/>
              </a:spcBef>
              <a:spcAft>
                <a:spcPts val="0"/>
              </a:spcAft>
              <a:buSzPts val="1440"/>
              <a:buChar char="►"/>
            </a:pPr>
            <a:r>
              <a:rPr lang="en-IN"/>
              <a:t>For deployment we create a AWS EC2 instant and here we deploy our web application using docker.</a:t>
            </a:r>
            <a:endParaRPr/>
          </a:p>
          <a:p>
            <a:pPr indent="-342900" lvl="0" marL="342900" rtl="0" algn="l">
              <a:spcBef>
                <a:spcPts val="1000"/>
              </a:spcBef>
              <a:spcAft>
                <a:spcPts val="0"/>
              </a:spcAft>
              <a:buSzPts val="1440"/>
              <a:buChar char="►"/>
            </a:pPr>
            <a:r>
              <a:rPr lang="en-IN"/>
              <a:t>For prediction our model what we take from user we fetch the data from HBase which is on our AWS EC2 install we fetch the data and give to our model</a:t>
            </a:r>
            <a:endParaRPr/>
          </a:p>
          <a:p>
            <a:pPr indent="-342900" lvl="0" marL="342900" rtl="0" algn="l">
              <a:spcBef>
                <a:spcPts val="1000"/>
              </a:spcBef>
              <a:spcAft>
                <a:spcPts val="0"/>
              </a:spcAft>
              <a:buSzPts val="1440"/>
              <a:buChar char="►"/>
            </a:pPr>
            <a:r>
              <a:rPr lang="en-IN"/>
              <a:t>Then our model predict the user is eligible for loan or not.</a:t>
            </a:r>
            <a:endParaRPr/>
          </a:p>
        </p:txBody>
      </p:sp>
      <p:pic>
        <p:nvPicPr>
          <p:cNvPr id="240" name="Google Shape;240;p15"/>
          <p:cNvPicPr preferRelativeResize="0"/>
          <p:nvPr/>
        </p:nvPicPr>
        <p:blipFill rotWithShape="1">
          <a:blip r:embed="rId3">
            <a:alphaModFix/>
          </a:blip>
          <a:srcRect b="4687" l="0" r="0" t="3484"/>
          <a:stretch/>
        </p:blipFill>
        <p:spPr>
          <a:xfrm>
            <a:off x="-800100" y="3990100"/>
            <a:ext cx="5334826" cy="2755801"/>
          </a:xfrm>
          <a:prstGeom prst="rect">
            <a:avLst/>
          </a:prstGeom>
          <a:noFill/>
          <a:ln>
            <a:noFill/>
          </a:ln>
        </p:spPr>
      </p:pic>
      <p:pic>
        <p:nvPicPr>
          <p:cNvPr id="241" name="Google Shape;241;p15"/>
          <p:cNvPicPr preferRelativeResize="0"/>
          <p:nvPr/>
        </p:nvPicPr>
        <p:blipFill rotWithShape="1">
          <a:blip r:embed="rId4">
            <a:alphaModFix/>
          </a:blip>
          <a:srcRect b="5437" l="0" r="0" t="4531"/>
          <a:stretch/>
        </p:blipFill>
        <p:spPr>
          <a:xfrm>
            <a:off x="7447225" y="3880100"/>
            <a:ext cx="4809725" cy="28657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2023-03-09T06:48:52Z</dcterms:created>
  <dc:creator>VIJAY CHAUDHARY</dc:creator>
</cp:coreProperties>
</file>